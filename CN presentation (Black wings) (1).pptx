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2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3" r:id="rId8"/>
    <p:sldId id="262" r:id="rId9"/>
    <p:sldId id="267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9D78F7-30D9-D6B4-32FA-E331C8289A54}" v="749" dt="2024-12-11T16:33:04.962"/>
    <p1510:client id="{BFDCA053-F3F1-3B3E-260F-4AD60FA9AD5D}" v="91" dt="2024-12-11T11:10:08.316"/>
    <p1510:client id="{EC0203B5-3625-A378-7C90-B310F93A2FCF}" v="137" dt="2024-12-11T17:20:44.824"/>
    <p1510:client id="{F2B9F11A-B021-BF79-586B-C59AF00115D7}" v="73" dt="2024-12-11T10:58:48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33CD2C-91B8-4C3F-A951-C0AE22894B2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46A30A-EA95-42BF-846A-22DB317EAB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Static routing</a:t>
          </a:r>
        </a:p>
      </dgm:t>
    </dgm:pt>
    <dgm:pt modelId="{8FEB4ADE-89A1-4333-8D4F-606DDA433DC5}" type="parTrans" cxnId="{F9C4C176-E629-41F5-A236-60973287EFDA}">
      <dgm:prSet/>
      <dgm:spPr/>
      <dgm:t>
        <a:bodyPr/>
        <a:lstStyle/>
        <a:p>
          <a:endParaRPr lang="en-US"/>
        </a:p>
      </dgm:t>
    </dgm:pt>
    <dgm:pt modelId="{6D1B8EA0-E2B0-4B1B-8BF7-32760F6217D8}" type="sibTrans" cxnId="{F9C4C176-E629-41F5-A236-60973287EFDA}">
      <dgm:prSet/>
      <dgm:spPr/>
      <dgm:t>
        <a:bodyPr/>
        <a:lstStyle/>
        <a:p>
          <a:endParaRPr lang="en-US"/>
        </a:p>
      </dgm:t>
    </dgm:pt>
    <dgm:pt modelId="{D0C1F498-8CF6-4C72-BB82-B4B6137423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Dynamic routing (OSPF)</a:t>
          </a:r>
        </a:p>
      </dgm:t>
    </dgm:pt>
    <dgm:pt modelId="{1DA3B42D-1B13-461F-8CAC-9A2EB4826181}" type="parTrans" cxnId="{BB5E1A64-C28A-469A-8CBF-0BC9799B6DB3}">
      <dgm:prSet/>
      <dgm:spPr/>
      <dgm:t>
        <a:bodyPr/>
        <a:lstStyle/>
        <a:p>
          <a:endParaRPr lang="en-US"/>
        </a:p>
      </dgm:t>
    </dgm:pt>
    <dgm:pt modelId="{065E0896-5F3A-4B9C-B458-5883DB0DC1DE}" type="sibTrans" cxnId="{BB5E1A64-C28A-469A-8CBF-0BC9799B6DB3}">
      <dgm:prSet/>
      <dgm:spPr/>
      <dgm:t>
        <a:bodyPr/>
        <a:lstStyle/>
        <a:p>
          <a:endParaRPr lang="en-US"/>
        </a:p>
      </dgm:t>
    </dgm:pt>
    <dgm:pt modelId="{6768B48F-0CA2-44DB-909D-0AFA49AE6C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ACL (for specifically blocking FTP traffic and allowing HTTP traffic)</a:t>
          </a:r>
        </a:p>
      </dgm:t>
    </dgm:pt>
    <dgm:pt modelId="{871E4DBD-B00B-4E30-AE1D-ADC75F0DB2DC}" type="parTrans" cxnId="{D33E1C04-5911-4431-A4DC-AAEE99ABDE3E}">
      <dgm:prSet/>
      <dgm:spPr/>
      <dgm:t>
        <a:bodyPr/>
        <a:lstStyle/>
        <a:p>
          <a:endParaRPr lang="en-US"/>
        </a:p>
      </dgm:t>
    </dgm:pt>
    <dgm:pt modelId="{8EBAC502-375C-4B4D-9673-AB159F94633A}" type="sibTrans" cxnId="{D33E1C04-5911-4431-A4DC-AAEE99ABDE3E}">
      <dgm:prSet/>
      <dgm:spPr/>
      <dgm:t>
        <a:bodyPr/>
        <a:lstStyle/>
        <a:p>
          <a:endParaRPr lang="en-US"/>
        </a:p>
      </dgm:t>
    </dgm:pt>
    <dgm:pt modelId="{7A979469-B8FB-4DEE-8C55-7CB71422F052}" type="pres">
      <dgm:prSet presAssocID="{F033CD2C-91B8-4C3F-A951-C0AE22894B27}" presName="root" presStyleCnt="0">
        <dgm:presLayoutVars>
          <dgm:dir/>
          <dgm:resizeHandles val="exact"/>
        </dgm:presLayoutVars>
      </dgm:prSet>
      <dgm:spPr/>
    </dgm:pt>
    <dgm:pt modelId="{C786EFA9-A1DD-4E30-A2FF-F51B28B75392}" type="pres">
      <dgm:prSet presAssocID="{7D46A30A-EA95-42BF-846A-22DB317EAB11}" presName="compNode" presStyleCnt="0"/>
      <dgm:spPr/>
    </dgm:pt>
    <dgm:pt modelId="{27CBCFE2-129D-4AF1-B20E-4365A04DBFC9}" type="pres">
      <dgm:prSet presAssocID="{7D46A30A-EA95-42BF-846A-22DB317EAB11}" presName="iconBgRect" presStyleLbl="bgShp" presStyleIdx="0" presStyleCnt="3"/>
      <dgm:spPr/>
    </dgm:pt>
    <dgm:pt modelId="{6DB904A4-50AE-457E-86B2-16BD4D7EDD19}" type="pres">
      <dgm:prSet presAssocID="{7D46A30A-EA95-42BF-846A-22DB317EAB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654221A-ECDB-4AE3-B245-BF7A58244871}" type="pres">
      <dgm:prSet presAssocID="{7D46A30A-EA95-42BF-846A-22DB317EAB11}" presName="spaceRect" presStyleCnt="0"/>
      <dgm:spPr/>
    </dgm:pt>
    <dgm:pt modelId="{A764062D-D3AF-478C-94D1-4E99EE27FFC4}" type="pres">
      <dgm:prSet presAssocID="{7D46A30A-EA95-42BF-846A-22DB317EAB11}" presName="textRect" presStyleLbl="revTx" presStyleIdx="0" presStyleCnt="3">
        <dgm:presLayoutVars>
          <dgm:chMax val="1"/>
          <dgm:chPref val="1"/>
        </dgm:presLayoutVars>
      </dgm:prSet>
      <dgm:spPr/>
    </dgm:pt>
    <dgm:pt modelId="{3CD00077-2FF2-4F5B-AF72-3CB90E894800}" type="pres">
      <dgm:prSet presAssocID="{6D1B8EA0-E2B0-4B1B-8BF7-32760F6217D8}" presName="sibTrans" presStyleCnt="0"/>
      <dgm:spPr/>
    </dgm:pt>
    <dgm:pt modelId="{5341B427-F98D-4371-8967-49BCE4C99FE5}" type="pres">
      <dgm:prSet presAssocID="{D0C1F498-8CF6-4C72-BB82-B4B6137423AC}" presName="compNode" presStyleCnt="0"/>
      <dgm:spPr/>
    </dgm:pt>
    <dgm:pt modelId="{1A146B3A-8373-4F1C-8C9E-D726EF4AE1DD}" type="pres">
      <dgm:prSet presAssocID="{D0C1F498-8CF6-4C72-BB82-B4B6137423AC}" presName="iconBgRect" presStyleLbl="bgShp" presStyleIdx="1" presStyleCnt="3"/>
      <dgm:spPr/>
    </dgm:pt>
    <dgm:pt modelId="{D060E406-A503-4F3D-804E-7AF9D2D4D1A6}" type="pres">
      <dgm:prSet presAssocID="{D0C1F498-8CF6-4C72-BB82-B4B6137423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5B1CB32-5327-4FFA-AB7F-C3E54E1574C0}" type="pres">
      <dgm:prSet presAssocID="{D0C1F498-8CF6-4C72-BB82-B4B6137423AC}" presName="spaceRect" presStyleCnt="0"/>
      <dgm:spPr/>
    </dgm:pt>
    <dgm:pt modelId="{CCDD6C33-D1F3-48C5-99DB-CB08A3FB27D4}" type="pres">
      <dgm:prSet presAssocID="{D0C1F498-8CF6-4C72-BB82-B4B6137423AC}" presName="textRect" presStyleLbl="revTx" presStyleIdx="1" presStyleCnt="3">
        <dgm:presLayoutVars>
          <dgm:chMax val="1"/>
          <dgm:chPref val="1"/>
        </dgm:presLayoutVars>
      </dgm:prSet>
      <dgm:spPr/>
    </dgm:pt>
    <dgm:pt modelId="{A1D5A605-5BB0-4D15-9A58-65597045AE45}" type="pres">
      <dgm:prSet presAssocID="{065E0896-5F3A-4B9C-B458-5883DB0DC1DE}" presName="sibTrans" presStyleCnt="0"/>
      <dgm:spPr/>
    </dgm:pt>
    <dgm:pt modelId="{702A73BC-0E74-41E3-9199-95E26E1E9E2F}" type="pres">
      <dgm:prSet presAssocID="{6768B48F-0CA2-44DB-909D-0AFA49AE6CA9}" presName="compNode" presStyleCnt="0"/>
      <dgm:spPr/>
    </dgm:pt>
    <dgm:pt modelId="{26E2936B-5361-4442-B1F4-3ACBFA565856}" type="pres">
      <dgm:prSet presAssocID="{6768B48F-0CA2-44DB-909D-0AFA49AE6CA9}" presName="iconBgRect" presStyleLbl="bgShp" presStyleIdx="2" presStyleCnt="3"/>
      <dgm:spPr/>
    </dgm:pt>
    <dgm:pt modelId="{AFF2A812-4FF8-48BB-A98D-8FBC4D324309}" type="pres">
      <dgm:prSet presAssocID="{6768B48F-0CA2-44DB-909D-0AFA49AE6C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27DEA79-B94F-414D-828E-E88543187135}" type="pres">
      <dgm:prSet presAssocID="{6768B48F-0CA2-44DB-909D-0AFA49AE6CA9}" presName="spaceRect" presStyleCnt="0"/>
      <dgm:spPr/>
    </dgm:pt>
    <dgm:pt modelId="{56339229-B9E7-4847-B26B-023041CF4DEE}" type="pres">
      <dgm:prSet presAssocID="{6768B48F-0CA2-44DB-909D-0AFA49AE6CA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33E1C04-5911-4431-A4DC-AAEE99ABDE3E}" srcId="{F033CD2C-91B8-4C3F-A951-C0AE22894B27}" destId="{6768B48F-0CA2-44DB-909D-0AFA49AE6CA9}" srcOrd="2" destOrd="0" parTransId="{871E4DBD-B00B-4E30-AE1D-ADC75F0DB2DC}" sibTransId="{8EBAC502-375C-4B4D-9673-AB159F94633A}"/>
    <dgm:cxn modelId="{AB19F02D-0FE8-4FBA-82A1-AC3A34203D65}" type="presOf" srcId="{F033CD2C-91B8-4C3F-A951-C0AE22894B27}" destId="{7A979469-B8FB-4DEE-8C55-7CB71422F052}" srcOrd="0" destOrd="0" presId="urn:microsoft.com/office/officeart/2018/5/layout/IconCircleLabelList"/>
    <dgm:cxn modelId="{59497632-72BB-456D-B40F-7EE14F634C2D}" type="presOf" srcId="{6768B48F-0CA2-44DB-909D-0AFA49AE6CA9}" destId="{56339229-B9E7-4847-B26B-023041CF4DEE}" srcOrd="0" destOrd="0" presId="urn:microsoft.com/office/officeart/2018/5/layout/IconCircleLabelList"/>
    <dgm:cxn modelId="{BB5E1A64-C28A-469A-8CBF-0BC9799B6DB3}" srcId="{F033CD2C-91B8-4C3F-A951-C0AE22894B27}" destId="{D0C1F498-8CF6-4C72-BB82-B4B6137423AC}" srcOrd="1" destOrd="0" parTransId="{1DA3B42D-1B13-461F-8CAC-9A2EB4826181}" sibTransId="{065E0896-5F3A-4B9C-B458-5883DB0DC1DE}"/>
    <dgm:cxn modelId="{F9C4C176-E629-41F5-A236-60973287EFDA}" srcId="{F033CD2C-91B8-4C3F-A951-C0AE22894B27}" destId="{7D46A30A-EA95-42BF-846A-22DB317EAB11}" srcOrd="0" destOrd="0" parTransId="{8FEB4ADE-89A1-4333-8D4F-606DDA433DC5}" sibTransId="{6D1B8EA0-E2B0-4B1B-8BF7-32760F6217D8}"/>
    <dgm:cxn modelId="{3089747C-A2D2-4913-90BF-A54D91DED693}" type="presOf" srcId="{D0C1F498-8CF6-4C72-BB82-B4B6137423AC}" destId="{CCDD6C33-D1F3-48C5-99DB-CB08A3FB27D4}" srcOrd="0" destOrd="0" presId="urn:microsoft.com/office/officeart/2018/5/layout/IconCircleLabelList"/>
    <dgm:cxn modelId="{8996A493-C90A-4A1A-B251-E242B541A205}" type="presOf" srcId="{7D46A30A-EA95-42BF-846A-22DB317EAB11}" destId="{A764062D-D3AF-478C-94D1-4E99EE27FFC4}" srcOrd="0" destOrd="0" presId="urn:microsoft.com/office/officeart/2018/5/layout/IconCircleLabelList"/>
    <dgm:cxn modelId="{1C31D9FC-9599-4191-8B5E-E41A5AC9C5BD}" type="presParOf" srcId="{7A979469-B8FB-4DEE-8C55-7CB71422F052}" destId="{C786EFA9-A1DD-4E30-A2FF-F51B28B75392}" srcOrd="0" destOrd="0" presId="urn:microsoft.com/office/officeart/2018/5/layout/IconCircleLabelList"/>
    <dgm:cxn modelId="{9C559DC6-B0DF-4C96-B175-8E0418192780}" type="presParOf" srcId="{C786EFA9-A1DD-4E30-A2FF-F51B28B75392}" destId="{27CBCFE2-129D-4AF1-B20E-4365A04DBFC9}" srcOrd="0" destOrd="0" presId="urn:microsoft.com/office/officeart/2018/5/layout/IconCircleLabelList"/>
    <dgm:cxn modelId="{1B04A9AD-6FEF-449F-9CCF-786A1BFBE1B7}" type="presParOf" srcId="{C786EFA9-A1DD-4E30-A2FF-F51B28B75392}" destId="{6DB904A4-50AE-457E-86B2-16BD4D7EDD19}" srcOrd="1" destOrd="0" presId="urn:microsoft.com/office/officeart/2018/5/layout/IconCircleLabelList"/>
    <dgm:cxn modelId="{E1374917-657B-49E4-92AD-41A8779F6AE0}" type="presParOf" srcId="{C786EFA9-A1DD-4E30-A2FF-F51B28B75392}" destId="{0654221A-ECDB-4AE3-B245-BF7A58244871}" srcOrd="2" destOrd="0" presId="urn:microsoft.com/office/officeart/2018/5/layout/IconCircleLabelList"/>
    <dgm:cxn modelId="{396ABFFC-16AE-4B7E-A48F-145522A97550}" type="presParOf" srcId="{C786EFA9-A1DD-4E30-A2FF-F51B28B75392}" destId="{A764062D-D3AF-478C-94D1-4E99EE27FFC4}" srcOrd="3" destOrd="0" presId="urn:microsoft.com/office/officeart/2018/5/layout/IconCircleLabelList"/>
    <dgm:cxn modelId="{EFD32BDC-2D7D-45CD-9A07-25950E5B6E63}" type="presParOf" srcId="{7A979469-B8FB-4DEE-8C55-7CB71422F052}" destId="{3CD00077-2FF2-4F5B-AF72-3CB90E894800}" srcOrd="1" destOrd="0" presId="urn:microsoft.com/office/officeart/2018/5/layout/IconCircleLabelList"/>
    <dgm:cxn modelId="{627D9116-918A-4775-8032-AE3DC3E7AAD0}" type="presParOf" srcId="{7A979469-B8FB-4DEE-8C55-7CB71422F052}" destId="{5341B427-F98D-4371-8967-49BCE4C99FE5}" srcOrd="2" destOrd="0" presId="urn:microsoft.com/office/officeart/2018/5/layout/IconCircleLabelList"/>
    <dgm:cxn modelId="{0B002F83-5F1E-4B17-BF9B-C9500EB1969E}" type="presParOf" srcId="{5341B427-F98D-4371-8967-49BCE4C99FE5}" destId="{1A146B3A-8373-4F1C-8C9E-D726EF4AE1DD}" srcOrd="0" destOrd="0" presId="urn:microsoft.com/office/officeart/2018/5/layout/IconCircleLabelList"/>
    <dgm:cxn modelId="{AEE655EF-C0A9-4193-9A44-3322EE441A54}" type="presParOf" srcId="{5341B427-F98D-4371-8967-49BCE4C99FE5}" destId="{D060E406-A503-4F3D-804E-7AF9D2D4D1A6}" srcOrd="1" destOrd="0" presId="urn:microsoft.com/office/officeart/2018/5/layout/IconCircleLabelList"/>
    <dgm:cxn modelId="{2C7FE105-ABB9-4BFA-90D7-E44AC7DA001D}" type="presParOf" srcId="{5341B427-F98D-4371-8967-49BCE4C99FE5}" destId="{05B1CB32-5327-4FFA-AB7F-C3E54E1574C0}" srcOrd="2" destOrd="0" presId="urn:microsoft.com/office/officeart/2018/5/layout/IconCircleLabelList"/>
    <dgm:cxn modelId="{6C0DD6E6-C7B8-4945-92EE-AD49D4AE5859}" type="presParOf" srcId="{5341B427-F98D-4371-8967-49BCE4C99FE5}" destId="{CCDD6C33-D1F3-48C5-99DB-CB08A3FB27D4}" srcOrd="3" destOrd="0" presId="urn:microsoft.com/office/officeart/2018/5/layout/IconCircleLabelList"/>
    <dgm:cxn modelId="{9ABDE9F2-A841-49C3-8FB0-C5B7F41D4B4E}" type="presParOf" srcId="{7A979469-B8FB-4DEE-8C55-7CB71422F052}" destId="{A1D5A605-5BB0-4D15-9A58-65597045AE45}" srcOrd="3" destOrd="0" presId="urn:microsoft.com/office/officeart/2018/5/layout/IconCircleLabelList"/>
    <dgm:cxn modelId="{C5584E8E-5D7F-4B16-9D06-7194F8B665FF}" type="presParOf" srcId="{7A979469-B8FB-4DEE-8C55-7CB71422F052}" destId="{702A73BC-0E74-41E3-9199-95E26E1E9E2F}" srcOrd="4" destOrd="0" presId="urn:microsoft.com/office/officeart/2018/5/layout/IconCircleLabelList"/>
    <dgm:cxn modelId="{9FAFB0A9-F2BA-42A0-8314-26565EB8F52B}" type="presParOf" srcId="{702A73BC-0E74-41E3-9199-95E26E1E9E2F}" destId="{26E2936B-5361-4442-B1F4-3ACBFA565856}" srcOrd="0" destOrd="0" presId="urn:microsoft.com/office/officeart/2018/5/layout/IconCircleLabelList"/>
    <dgm:cxn modelId="{84FAEE61-9D86-4CB0-865A-DF652FB47C9C}" type="presParOf" srcId="{702A73BC-0E74-41E3-9199-95E26E1E9E2F}" destId="{AFF2A812-4FF8-48BB-A98D-8FBC4D324309}" srcOrd="1" destOrd="0" presId="urn:microsoft.com/office/officeart/2018/5/layout/IconCircleLabelList"/>
    <dgm:cxn modelId="{0825CE61-B128-4D7F-9A2F-52D0B08D1C25}" type="presParOf" srcId="{702A73BC-0E74-41E3-9199-95E26E1E9E2F}" destId="{627DEA79-B94F-414D-828E-E88543187135}" srcOrd="2" destOrd="0" presId="urn:microsoft.com/office/officeart/2018/5/layout/IconCircleLabelList"/>
    <dgm:cxn modelId="{8CAB3AEC-5F1E-4E2A-A033-B470B8273F55}" type="presParOf" srcId="{702A73BC-0E74-41E3-9199-95E26E1E9E2F}" destId="{56339229-B9E7-4847-B26B-023041CF4DE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BCFE2-129D-4AF1-B20E-4365A04DBFC9}">
      <dsp:nvSpPr>
        <dsp:cNvPr id="0" name=""/>
        <dsp:cNvSpPr/>
      </dsp:nvSpPr>
      <dsp:spPr>
        <a:xfrm>
          <a:off x="393271" y="1336487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904A4-50AE-457E-86B2-16BD4D7EDD19}">
      <dsp:nvSpPr>
        <dsp:cNvPr id="0" name=""/>
        <dsp:cNvSpPr/>
      </dsp:nvSpPr>
      <dsp:spPr>
        <a:xfrm>
          <a:off x="627271" y="1570487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4062D-D3AF-478C-94D1-4E99EE27FFC4}">
      <dsp:nvSpPr>
        <dsp:cNvPr id="0" name=""/>
        <dsp:cNvSpPr/>
      </dsp:nvSpPr>
      <dsp:spPr>
        <a:xfrm>
          <a:off x="42271" y="277648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Static routing</a:t>
          </a:r>
        </a:p>
      </dsp:txBody>
      <dsp:txXfrm>
        <a:off x="42271" y="2776487"/>
        <a:ext cx="1800000" cy="720000"/>
      </dsp:txXfrm>
    </dsp:sp>
    <dsp:sp modelId="{1A146B3A-8373-4F1C-8C9E-D726EF4AE1DD}">
      <dsp:nvSpPr>
        <dsp:cNvPr id="0" name=""/>
        <dsp:cNvSpPr/>
      </dsp:nvSpPr>
      <dsp:spPr>
        <a:xfrm>
          <a:off x="2508271" y="1336487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0E406-A503-4F3D-804E-7AF9D2D4D1A6}">
      <dsp:nvSpPr>
        <dsp:cNvPr id="0" name=""/>
        <dsp:cNvSpPr/>
      </dsp:nvSpPr>
      <dsp:spPr>
        <a:xfrm>
          <a:off x="2742271" y="1570487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D6C33-D1F3-48C5-99DB-CB08A3FB27D4}">
      <dsp:nvSpPr>
        <dsp:cNvPr id="0" name=""/>
        <dsp:cNvSpPr/>
      </dsp:nvSpPr>
      <dsp:spPr>
        <a:xfrm>
          <a:off x="2157271" y="277648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Dynamic routing (OSPF)</a:t>
          </a:r>
        </a:p>
      </dsp:txBody>
      <dsp:txXfrm>
        <a:off x="2157271" y="2776487"/>
        <a:ext cx="1800000" cy="720000"/>
      </dsp:txXfrm>
    </dsp:sp>
    <dsp:sp modelId="{26E2936B-5361-4442-B1F4-3ACBFA565856}">
      <dsp:nvSpPr>
        <dsp:cNvPr id="0" name=""/>
        <dsp:cNvSpPr/>
      </dsp:nvSpPr>
      <dsp:spPr>
        <a:xfrm>
          <a:off x="4623271" y="1336487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2A812-4FF8-48BB-A98D-8FBC4D324309}">
      <dsp:nvSpPr>
        <dsp:cNvPr id="0" name=""/>
        <dsp:cNvSpPr/>
      </dsp:nvSpPr>
      <dsp:spPr>
        <a:xfrm>
          <a:off x="4857271" y="1570487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39229-B9E7-4847-B26B-023041CF4DEE}">
      <dsp:nvSpPr>
        <dsp:cNvPr id="0" name=""/>
        <dsp:cNvSpPr/>
      </dsp:nvSpPr>
      <dsp:spPr>
        <a:xfrm>
          <a:off x="4272271" y="277648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ACL (for specifically blocking FTP traffic and allowing HTTP traffic)</a:t>
          </a:r>
        </a:p>
      </dsp:txBody>
      <dsp:txXfrm>
        <a:off x="4272271" y="2776487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742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9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3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5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1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91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91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53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5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0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18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81" r:id="rId4"/>
    <p:sldLayoutId id="2147484082" r:id="rId5"/>
    <p:sldLayoutId id="2147484087" r:id="rId6"/>
    <p:sldLayoutId id="2147484083" r:id="rId7"/>
    <p:sldLayoutId id="2147484084" r:id="rId8"/>
    <p:sldLayoutId id="2147484085" r:id="rId9"/>
    <p:sldLayoutId id="2147484086" r:id="rId10"/>
    <p:sldLayoutId id="214748408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7" name="Rectangle 196">
            <a:extLst>
              <a:ext uri="{FF2B5EF4-FFF2-40B4-BE49-F238E27FC236}">
                <a16:creationId xmlns:a16="http://schemas.microsoft.com/office/drawing/2014/main" id="{0FA27539-4286-4FA8-9DA6-7CF237447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369" y="1079500"/>
            <a:ext cx="4078800" cy="378790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ea typeface="+mj-lt"/>
                <a:cs typeface="+mj-lt"/>
              </a:rPr>
              <a:t>Remote Office Integration with Data Center Using Routing and Access Control</a:t>
            </a:r>
            <a:endParaRPr lang="en-US" sz="4000" dirty="0"/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AD006E5C-C61C-8530-DA08-2C20409674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15" r="23106" b="-2"/>
          <a:stretch/>
        </p:blipFill>
        <p:spPr>
          <a:xfrm>
            <a:off x="20" y="10"/>
            <a:ext cx="6111518" cy="6857990"/>
          </a:xfrm>
          <a:prstGeom prst="rect">
            <a:avLst/>
          </a:prstGeom>
        </p:spPr>
      </p:pic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5E74535-9C0E-4211-B088-610AD562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73DB-7DAA-D2F1-F2B5-2B7AC5D4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246" y="444135"/>
            <a:ext cx="4595893" cy="1063990"/>
          </a:xfrm>
        </p:spPr>
        <p:txBody>
          <a:bodyPr/>
          <a:lstStyle/>
          <a:p>
            <a:r>
              <a:rPr lang="en-US" dirty="0"/>
              <a:t>Problem 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A376-208A-42B6-DE53-478FC7EF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715232"/>
            <a:ext cx="10213200" cy="477288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59410" indent="-359410"/>
            <a:r>
              <a:rPr lang="en-US" dirty="0">
                <a:ea typeface="+mn-lt"/>
                <a:cs typeface="+mn-lt"/>
              </a:rPr>
              <a:t>Scenario: A company has set up a remote office that requires access to the data center for file sharing, internal applications, and web services. The remote office connects via a leased line (MPLS or dedicated line) and requires secure, efficient communication. </a:t>
            </a:r>
          </a:p>
          <a:p>
            <a:pPr marL="359410" indent="-359410"/>
            <a:r>
              <a:rPr lang="en-US" dirty="0">
                <a:ea typeface="+mn-lt"/>
                <a:cs typeface="+mn-lt"/>
              </a:rPr>
              <a:t>Requirements: </a:t>
            </a:r>
          </a:p>
          <a:p>
            <a:pPr marL="359410" indent="-359410"/>
            <a:r>
              <a:rPr lang="en-US" dirty="0">
                <a:ea typeface="+mn-lt"/>
                <a:cs typeface="+mn-lt"/>
              </a:rPr>
              <a:t>● Configure static and dynamic routing between the data center and the remote office.</a:t>
            </a:r>
            <a:endParaRPr lang="en-US" dirty="0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pPr marL="359410" indent="-359410"/>
            <a:r>
              <a:rPr lang="en-US" dirty="0">
                <a:ea typeface="+mn-lt"/>
                <a:cs typeface="+mn-lt"/>
              </a:rPr>
              <a:t> ● Implement EIGRP or OSPF for automatic route distribution and redundancy. </a:t>
            </a:r>
            <a:endParaRPr lang="en-US">
              <a:ea typeface="+mn-lt"/>
              <a:cs typeface="+mn-lt"/>
            </a:endParaRPr>
          </a:p>
          <a:p>
            <a:pPr marL="359410" indent="-359410"/>
            <a:r>
              <a:rPr lang="en-US" dirty="0">
                <a:ea typeface="+mn-lt"/>
                <a:cs typeface="+mn-lt"/>
              </a:rPr>
              <a:t>● </a:t>
            </a:r>
            <a:r>
              <a:rPr lang="en-US" dirty="0" err="1">
                <a:ea typeface="+mn-lt"/>
                <a:cs typeface="+mn-lt"/>
              </a:rPr>
              <a:t>SetupACLstoallow</a:t>
            </a:r>
            <a:r>
              <a:rPr lang="en-US" dirty="0">
                <a:ea typeface="+mn-lt"/>
                <a:cs typeface="+mn-lt"/>
              </a:rPr>
              <a:t> traffic only for specific services (e.g., block non-essential ports such as FTP while allowing HTTPS).</a:t>
            </a:r>
            <a:endParaRPr lang="en-US" dirty="0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pPr marL="359410" indent="-359410"/>
            <a:r>
              <a:rPr lang="en-US" dirty="0">
                <a:ea typeface="+mn-lt"/>
                <a:cs typeface="+mn-lt"/>
              </a:rPr>
              <a:t> ● Create route filters and route maps to control route advertisement between the remote office and the data center to optimize routing paths and reduce unnecessary traffic</a:t>
            </a:r>
            <a:endParaRPr lang="en-US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77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045A-D01A-F26A-58B2-63D72EE5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015" y="2437058"/>
            <a:ext cx="2339200" cy="1259375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      </a:t>
            </a:r>
            <a:r>
              <a:rPr lang="en-US" sz="4000" dirty="0"/>
              <a:t>Structure</a:t>
            </a:r>
            <a:endParaRPr lang="en-US" sz="4000"/>
          </a:p>
        </p:txBody>
      </p:sp>
      <p:pic>
        <p:nvPicPr>
          <p:cNvPr id="6" name="Picture 5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0CC7AB62-5C1B-DA8B-194E-ED8C2924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253" y="515800"/>
            <a:ext cx="8919307" cy="569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7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308FF-3E76-4633-86C0-865E5559552E}"/>
              </a:ext>
            </a:extLst>
          </p:cNvPr>
          <p:cNvSpPr txBox="1"/>
          <p:nvPr/>
        </p:nvSpPr>
        <p:spPr>
          <a:xfrm>
            <a:off x="990000" y="945926"/>
            <a:ext cx="3531600" cy="483257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b="1" kern="1200" cap="none" spc="0" baseline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Uesed</a:t>
            </a:r>
            <a:r>
              <a:rPr lang="en-US" sz="3200" b="1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protocols</a:t>
            </a:r>
          </a:p>
        </p:txBody>
      </p:sp>
      <p:pic>
        <p:nvPicPr>
          <p:cNvPr id="6" name="Picture 5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B2CF3325-849B-B795-5C5D-6664F028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6" y="1636044"/>
            <a:ext cx="4320989" cy="2693461"/>
          </a:xfrm>
          <a:prstGeom prst="rect">
            <a:avLst/>
          </a:prstGeom>
        </p:spPr>
      </p:pic>
      <p:graphicFrame>
        <p:nvGraphicFramePr>
          <p:cNvPr id="38" name="TextBox 4">
            <a:extLst>
              <a:ext uri="{FF2B5EF4-FFF2-40B4-BE49-F238E27FC236}">
                <a16:creationId xmlns:a16="http://schemas.microsoft.com/office/drawing/2014/main" id="{5A686B69-7105-32DE-52DA-9BB339394CF3}"/>
              </a:ext>
            </a:extLst>
          </p:cNvPr>
          <p:cNvGraphicFramePr/>
          <p:nvPr/>
        </p:nvGraphicFramePr>
        <p:xfrm>
          <a:off x="4997457" y="935999"/>
          <a:ext cx="6114543" cy="483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42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router&#10;&#10;Description automatically generated">
            <a:extLst>
              <a:ext uri="{FF2B5EF4-FFF2-40B4-BE49-F238E27FC236}">
                <a16:creationId xmlns:a16="http://schemas.microsoft.com/office/drawing/2014/main" id="{C63A6B87-CE66-4EBC-0524-D09D717D9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217" y="1341040"/>
            <a:ext cx="3464902" cy="1052634"/>
          </a:xfrm>
          <a:prstGeom prst="rect">
            <a:avLst/>
          </a:prstGeom>
        </p:spPr>
      </p:pic>
      <p:pic>
        <p:nvPicPr>
          <p:cNvPr id="6" name="Picture 5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D35C98D9-0E66-050E-CF6B-99035607F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792" y="1337743"/>
            <a:ext cx="3022844" cy="1057275"/>
          </a:xfrm>
          <a:prstGeom prst="rect">
            <a:avLst/>
          </a:prstGeom>
        </p:spPr>
      </p:pic>
      <p:pic>
        <p:nvPicPr>
          <p:cNvPr id="7" name="Picture 6" descr="A diagram of a router&#10;&#10;Description automatically generated">
            <a:extLst>
              <a:ext uri="{FF2B5EF4-FFF2-40B4-BE49-F238E27FC236}">
                <a16:creationId xmlns:a16="http://schemas.microsoft.com/office/drawing/2014/main" id="{C3B6FD0A-C5FB-3F7F-90B2-0CF1BD14E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41" y="1332858"/>
            <a:ext cx="3193806" cy="10533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B566E0-017F-A61D-2257-85A1BA15D72B}"/>
              </a:ext>
            </a:extLst>
          </p:cNvPr>
          <p:cNvSpPr txBox="1"/>
          <p:nvPr/>
        </p:nvSpPr>
        <p:spPr>
          <a:xfrm>
            <a:off x="4032064" y="254085"/>
            <a:ext cx="43770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Router configuration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796D3-9287-068A-A358-BD1F88681153}"/>
              </a:ext>
            </a:extLst>
          </p:cNvPr>
          <p:cNvSpPr txBox="1"/>
          <p:nvPr/>
        </p:nvSpPr>
        <p:spPr>
          <a:xfrm>
            <a:off x="439635" y="2682298"/>
            <a:ext cx="312201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en</a:t>
            </a:r>
            <a:endParaRPr lang="en-US" dirty="0" err="1"/>
          </a:p>
          <a:p>
            <a:r>
              <a:rPr lang="en-US" dirty="0"/>
              <a:t>conf t</a:t>
            </a:r>
          </a:p>
          <a:p>
            <a:r>
              <a:rPr lang="en-US" dirty="0"/>
              <a:t>int Se2/0</a:t>
            </a:r>
          </a:p>
          <a:p>
            <a:r>
              <a:rPr lang="en-US" dirty="0" err="1"/>
              <a:t>ip</a:t>
            </a:r>
            <a:r>
              <a:rPr lang="en-US" dirty="0"/>
              <a:t> add 192.168.30.1 255.255.255.0</a:t>
            </a:r>
          </a:p>
          <a:p>
            <a:r>
              <a:rPr lang="en-US" dirty="0"/>
              <a:t>exit</a:t>
            </a:r>
          </a:p>
          <a:p>
            <a:endParaRPr lang="en-US" dirty="0"/>
          </a:p>
          <a:p>
            <a:r>
              <a:rPr lang="en-US" dirty="0"/>
              <a:t>int Fa4/0</a:t>
            </a:r>
          </a:p>
          <a:p>
            <a:r>
              <a:rPr lang="en-US" dirty="0" err="1"/>
              <a:t>ip</a:t>
            </a:r>
            <a:r>
              <a:rPr lang="en-US" dirty="0"/>
              <a:t> add 192.168.50.1 255.255.255.0</a:t>
            </a:r>
          </a:p>
          <a:p>
            <a:r>
              <a:rPr lang="en-US" dirty="0"/>
              <a:t>exit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F29D00-BCF9-92A6-D782-D8A626683F32}"/>
              </a:ext>
            </a:extLst>
          </p:cNvPr>
          <p:cNvSpPr txBox="1"/>
          <p:nvPr/>
        </p:nvSpPr>
        <p:spPr>
          <a:xfrm>
            <a:off x="4539849" y="2679373"/>
            <a:ext cx="311900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en</a:t>
            </a:r>
            <a:endParaRPr lang="en-US" dirty="0"/>
          </a:p>
          <a:p>
            <a:r>
              <a:rPr lang="en-US" dirty="0"/>
              <a:t>conf t</a:t>
            </a:r>
          </a:p>
          <a:p>
            <a:r>
              <a:rPr lang="en-US" dirty="0"/>
              <a:t>int Se2/0</a:t>
            </a:r>
          </a:p>
          <a:p>
            <a:r>
              <a:rPr lang="en-US" dirty="0" err="1"/>
              <a:t>ip</a:t>
            </a:r>
            <a:r>
              <a:rPr lang="en-US" dirty="0"/>
              <a:t> add 192.168.30.2 255.255.255.0</a:t>
            </a:r>
          </a:p>
          <a:p>
            <a:r>
              <a:rPr lang="en-US" dirty="0"/>
              <a:t>exit</a:t>
            </a:r>
          </a:p>
          <a:p>
            <a:r>
              <a:rPr lang="en-US" dirty="0"/>
              <a:t>int Se3/0</a:t>
            </a:r>
          </a:p>
          <a:p>
            <a:r>
              <a:rPr lang="en-US" dirty="0" err="1"/>
              <a:t>ip</a:t>
            </a:r>
            <a:r>
              <a:rPr lang="en-US" dirty="0"/>
              <a:t> add 192.168.20.2 255.255.255.0</a:t>
            </a:r>
          </a:p>
          <a:p>
            <a:r>
              <a:rPr lang="en-US" dirty="0"/>
              <a:t>exit </a:t>
            </a:r>
          </a:p>
          <a:p>
            <a:endParaRPr lang="en-US" dirty="0"/>
          </a:p>
          <a:p>
            <a:r>
              <a:rPr lang="en-US" dirty="0"/>
              <a:t>int Fa0/0</a:t>
            </a:r>
          </a:p>
          <a:p>
            <a:r>
              <a:rPr lang="en-US" dirty="0" err="1"/>
              <a:t>ip</a:t>
            </a:r>
            <a:r>
              <a:rPr lang="en-US" dirty="0"/>
              <a:t> add 192.168.10.2 255.255.255.0</a:t>
            </a:r>
          </a:p>
          <a:p>
            <a:r>
              <a:rPr lang="en-US" dirty="0"/>
              <a:t>exit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7670C-897B-48A4-B490-EF38F989E354}"/>
              </a:ext>
            </a:extLst>
          </p:cNvPr>
          <p:cNvSpPr txBox="1"/>
          <p:nvPr/>
        </p:nvSpPr>
        <p:spPr>
          <a:xfrm>
            <a:off x="8648793" y="2679373"/>
            <a:ext cx="345620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en</a:t>
            </a:r>
          </a:p>
          <a:p>
            <a:r>
              <a:rPr lang="en-US" dirty="0"/>
              <a:t>conf t</a:t>
            </a:r>
          </a:p>
          <a:p>
            <a:r>
              <a:rPr lang="en-US" dirty="0"/>
              <a:t>int Se2/0</a:t>
            </a:r>
          </a:p>
          <a:p>
            <a:r>
              <a:rPr lang="en-US" dirty="0" err="1"/>
              <a:t>ip</a:t>
            </a:r>
            <a:r>
              <a:rPr lang="en-US" dirty="0"/>
              <a:t> add 192.168.20.1 255.255.255.0</a:t>
            </a:r>
          </a:p>
          <a:p>
            <a:r>
              <a:rPr lang="en-US" dirty="0"/>
              <a:t>exit</a:t>
            </a:r>
          </a:p>
          <a:p>
            <a:endParaRPr lang="en-US" dirty="0"/>
          </a:p>
          <a:p>
            <a:r>
              <a:rPr lang="en-US" dirty="0"/>
              <a:t>int Fa4/0</a:t>
            </a:r>
          </a:p>
          <a:p>
            <a:r>
              <a:rPr lang="en-US" dirty="0" err="1"/>
              <a:t>ip</a:t>
            </a:r>
            <a:r>
              <a:rPr lang="en-US" dirty="0"/>
              <a:t> add 192.168.40.1 255.255.255.0</a:t>
            </a:r>
          </a:p>
          <a:p>
            <a:r>
              <a:rPr lang="en-US" dirty="0"/>
              <a:t>exit</a:t>
            </a:r>
          </a:p>
          <a:p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28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40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9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1B602-91D1-ADBB-01AC-45DE17A309D4}"/>
              </a:ext>
            </a:extLst>
          </p:cNvPr>
          <p:cNvSpPr txBox="1"/>
          <p:nvPr/>
        </p:nvSpPr>
        <p:spPr>
          <a:xfrm>
            <a:off x="1079510" y="4575967"/>
            <a:ext cx="4457690" cy="17208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latin typeface="+mj-lt"/>
                <a:ea typeface="+mj-ea"/>
                <a:cs typeface="+mj-cs"/>
              </a:rPr>
              <a:t>DNS server and PC config</a:t>
            </a:r>
          </a:p>
        </p:txBody>
      </p:sp>
      <p:pic>
        <p:nvPicPr>
          <p:cNvPr id="6" name="Picture 5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421D4855-5F2E-0989-C6AF-DC65495FBE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70"/>
          <a:stretch/>
        </p:blipFill>
        <p:spPr>
          <a:xfrm>
            <a:off x="6093600" y="10"/>
            <a:ext cx="6098400" cy="401399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56CB156-F741-385F-D3AF-CA16A7675E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23" b="14124"/>
          <a:stretch/>
        </p:blipFill>
        <p:spPr>
          <a:xfrm>
            <a:off x="20" y="10"/>
            <a:ext cx="6098380" cy="4014777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732F330-65C0-4C4B-A237-22DEFC8CB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63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54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8EB-3BE5-3CB2-79C5-B5EC8982F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477" y="522288"/>
            <a:ext cx="4136739" cy="702529"/>
          </a:xfrm>
        </p:spPr>
        <p:txBody>
          <a:bodyPr/>
          <a:lstStyle/>
          <a:p>
            <a:r>
              <a:rPr lang="en-US" dirty="0"/>
              <a:t>Dynamic routing(OSPF)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C0E05-41F7-911F-63D0-B2848D15D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715232"/>
            <a:ext cx="3687354" cy="40108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Router 1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router </a:t>
            </a:r>
            <a:r>
              <a:rPr lang="en-US" sz="1200" b="1" dirty="0" err="1">
                <a:ea typeface="+mn-lt"/>
                <a:cs typeface="+mn-lt"/>
              </a:rPr>
              <a:t>ospf</a:t>
            </a:r>
            <a:r>
              <a:rPr lang="en-US" sz="1200" b="1" dirty="0">
                <a:ea typeface="+mn-lt"/>
                <a:cs typeface="+mn-lt"/>
              </a:rPr>
              <a:t> 1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network 192.168.50.0 0.0.0.255 area 5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network 192.168.30.0 0.0.0.255 area 5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exit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Router 0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router </a:t>
            </a:r>
            <a:r>
              <a:rPr lang="en-US" sz="1200" b="1" dirty="0" err="1">
                <a:ea typeface="+mn-lt"/>
                <a:cs typeface="+mn-lt"/>
              </a:rPr>
              <a:t>ospf</a:t>
            </a:r>
            <a:r>
              <a:rPr lang="en-US" sz="1200" b="1" dirty="0">
                <a:ea typeface="+mn-lt"/>
                <a:cs typeface="+mn-lt"/>
              </a:rPr>
              <a:t> 1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err="1">
                <a:ea typeface="+mn-lt"/>
                <a:cs typeface="+mn-lt"/>
              </a:rPr>
              <a:t>netowrk</a:t>
            </a:r>
            <a:r>
              <a:rPr lang="en-US" sz="1200" b="1" dirty="0">
                <a:ea typeface="+mn-lt"/>
                <a:cs typeface="+mn-lt"/>
              </a:rPr>
              <a:t> 192.168.10.0 0.0.0.255 area 5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network 192.168.20.0 0.0.0.255 area 5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network 192.168.30.0 0.0.0.255 area 5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359410" indent="-359410"/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 descr="A computer diagram of a server&#10;&#10;Description automatically generated">
            <a:extLst>
              <a:ext uri="{FF2B5EF4-FFF2-40B4-BE49-F238E27FC236}">
                <a16:creationId xmlns:a16="http://schemas.microsoft.com/office/drawing/2014/main" id="{C05980CA-4316-DCC9-552D-0A54EC2E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86" y="1334935"/>
            <a:ext cx="3960982" cy="520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4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68346D-5E77-4906-AC8D-57FB88F11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22108-2D88-020E-B4B8-4A9621CAA29C}"/>
              </a:ext>
            </a:extLst>
          </p:cNvPr>
          <p:cNvSpPr txBox="1"/>
          <p:nvPr/>
        </p:nvSpPr>
        <p:spPr>
          <a:xfrm>
            <a:off x="7112369" y="395297"/>
            <a:ext cx="4078800" cy="159428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Static routing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B9C38-01FB-3DF5-247B-34CBB13BE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00"/>
          <a:stretch/>
        </p:blipFill>
        <p:spPr>
          <a:xfrm>
            <a:off x="20" y="10"/>
            <a:ext cx="6111518" cy="685799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BC1FDF-AE13-4731-B38F-2761BDFDB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30DD6C-0141-3F70-FD2A-959919F94142}"/>
              </a:ext>
            </a:extLst>
          </p:cNvPr>
          <p:cNvSpPr txBox="1"/>
          <p:nvPr/>
        </p:nvSpPr>
        <p:spPr>
          <a:xfrm>
            <a:off x="7112369" y="1997788"/>
            <a:ext cx="4078800" cy="477717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600" b="1" spc="50" dirty="0">
                <a:solidFill>
                  <a:schemeClr val="tx1">
                    <a:alpha val="60000"/>
                  </a:schemeClr>
                </a:solidFill>
              </a:rPr>
              <a:t>Router 2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en-US" sz="1600" b="1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600" b="1" spc="50" dirty="0">
                <a:solidFill>
                  <a:schemeClr val="tx1">
                    <a:alpha val="60000"/>
                  </a:schemeClr>
                </a:solidFill>
              </a:rPr>
              <a:t>int se2/0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600" b="1" spc="50" dirty="0" err="1">
                <a:solidFill>
                  <a:schemeClr val="tx1">
                    <a:alpha val="60000"/>
                  </a:schemeClr>
                </a:solidFill>
              </a:rPr>
              <a:t>ip</a:t>
            </a:r>
            <a:r>
              <a:rPr lang="en-US" sz="1600" b="1" spc="50" dirty="0">
                <a:solidFill>
                  <a:schemeClr val="tx1">
                    <a:alpha val="60000"/>
                  </a:schemeClr>
                </a:solidFill>
              </a:rPr>
              <a:t> route 192.168.10.0 255.255.255.0 192.168.20.2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en-US" sz="1600" b="1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600" b="1" spc="50" dirty="0">
                <a:solidFill>
                  <a:schemeClr val="tx1">
                    <a:alpha val="60000"/>
                  </a:schemeClr>
                </a:solidFill>
              </a:rPr>
              <a:t>Router 0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en-US" sz="1600" b="1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600" b="1" spc="50" dirty="0">
                <a:solidFill>
                  <a:schemeClr val="tx1">
                    <a:alpha val="60000"/>
                  </a:schemeClr>
                </a:solidFill>
              </a:rPr>
              <a:t>int se3/0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600" b="1" spc="50" err="1">
                <a:solidFill>
                  <a:schemeClr val="tx1">
                    <a:alpha val="60000"/>
                  </a:schemeClr>
                </a:solidFill>
              </a:rPr>
              <a:t>ip</a:t>
            </a:r>
            <a:r>
              <a:rPr lang="en-US" sz="1600" b="1" spc="50" dirty="0">
                <a:solidFill>
                  <a:schemeClr val="tx1">
                    <a:alpha val="60000"/>
                  </a:schemeClr>
                </a:solidFill>
              </a:rPr>
              <a:t> route 192.168.40.0 255.255.255.0 192.168.20.1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en-US" sz="1600" b="1" spc="50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675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3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2EC32AE-E4F8-4BC6-BEF2-B48BDD157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3B3D4-6E68-B537-848D-17C84424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863" y="1079500"/>
            <a:ext cx="3882286" cy="213840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ctr"/>
            <a:r>
              <a:rPr lang="en-US" sz="4800" dirty="0"/>
              <a:t>HTTPS is allowed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3470578-D9FB-3E34-1886-C4F23FA8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9" r="9669" b="2"/>
          <a:stretch/>
        </p:blipFill>
        <p:spPr>
          <a:xfrm>
            <a:off x="20" y="10"/>
            <a:ext cx="7211993" cy="6857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11C822-2379-4749-95C7-3CDA93294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2006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E1E31187-CAC9-7B87-6F65-0D517FF0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564" y="4588857"/>
            <a:ext cx="11811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13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CEAE-11C3-3115-F6BA-49A3E46A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 (For blocking FTP traffic and allowing HTTPS)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64667-34A6-F67C-4770-B3AA29070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715232"/>
            <a:ext cx="2212200" cy="40108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Router 0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 err="1">
                <a:ea typeface="+mn-lt"/>
                <a:cs typeface="+mn-lt"/>
              </a:rPr>
              <a:t>en</a:t>
            </a:r>
            <a:endParaRPr lang="en-US" sz="1200" b="1" dirty="0" err="1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conf t</a:t>
            </a:r>
            <a:endParaRPr lang="en-US" sz="1200" b="1" dirty="0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access-list 100 deny </a:t>
            </a:r>
            <a:r>
              <a:rPr lang="en-US" sz="1200" b="1" dirty="0" err="1">
                <a:ea typeface="+mn-lt"/>
                <a:cs typeface="+mn-lt"/>
              </a:rPr>
              <a:t>tcp</a:t>
            </a:r>
            <a:r>
              <a:rPr lang="en-US" sz="1200" b="1" dirty="0">
                <a:ea typeface="+mn-lt"/>
                <a:cs typeface="+mn-lt"/>
              </a:rPr>
              <a:t> host 192.168.40.2 host 192.168.10.1 eq 21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access-list 100 permit </a:t>
            </a:r>
            <a:r>
              <a:rPr lang="en-US" sz="1200" b="1" dirty="0" err="1">
                <a:ea typeface="+mn-lt"/>
                <a:cs typeface="+mn-lt"/>
              </a:rPr>
              <a:t>ip</a:t>
            </a:r>
            <a:r>
              <a:rPr lang="en-US" sz="1200" b="1" dirty="0">
                <a:ea typeface="+mn-lt"/>
                <a:cs typeface="+mn-lt"/>
              </a:rPr>
              <a:t> any </a:t>
            </a:r>
            <a:r>
              <a:rPr lang="en-US" sz="1200" b="1" dirty="0" err="1">
                <a:ea typeface="+mn-lt"/>
                <a:cs typeface="+mn-lt"/>
              </a:rPr>
              <a:t>any</a:t>
            </a:r>
            <a:endParaRPr lang="en-US" sz="1200" b="1" dirty="0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int fa0/0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 err="1">
                <a:ea typeface="+mn-lt"/>
                <a:cs typeface="+mn-lt"/>
              </a:rPr>
              <a:t>ip</a:t>
            </a:r>
            <a:r>
              <a:rPr lang="en-US" sz="1200" b="1" dirty="0">
                <a:ea typeface="+mn-lt"/>
                <a:cs typeface="+mn-lt"/>
              </a:rPr>
              <a:t> access-group 100 out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exit</a:t>
            </a:r>
            <a:endParaRPr lang="en-US" sz="1200" b="1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F7AE9-0927-AEE2-C83D-DBCB0C8B8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154" y="2422523"/>
            <a:ext cx="1552575" cy="1885950"/>
          </a:xfrm>
          <a:prstGeom prst="rect">
            <a:avLst/>
          </a:prstGeom>
        </p:spPr>
      </p:pic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8AB2A3EB-452C-C060-5254-F5E5C954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519" y="2675151"/>
            <a:ext cx="26860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22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521A5-CE0B-85C5-4A6A-51B67794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and After applying ACL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B428CDA-3F69-A502-558D-61B04F379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616" y="2419917"/>
            <a:ext cx="3982010" cy="1875305"/>
          </a:xfrm>
          <a:prstGeom prst="rect">
            <a:avLst/>
          </a:prstGeom>
        </p:spPr>
      </p:pic>
      <p:pic>
        <p:nvPicPr>
          <p:cNvPr id="5" name="Picture 4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6614172E-B4FE-399F-3FA0-D29C9B0EA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01" y="2419548"/>
            <a:ext cx="4601695" cy="1878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310BC-5E03-380B-7AEC-D7D2BCB4A0E1}"/>
              </a:ext>
            </a:extLst>
          </p:cNvPr>
          <p:cNvSpPr txBox="1"/>
          <p:nvPr/>
        </p:nvSpPr>
        <p:spPr>
          <a:xfrm>
            <a:off x="1746635" y="4819342"/>
            <a:ext cx="40278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Before applying ACL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F1EFB-D041-C005-F55E-5F08BA518B63}"/>
              </a:ext>
            </a:extLst>
          </p:cNvPr>
          <p:cNvSpPr txBox="1"/>
          <p:nvPr/>
        </p:nvSpPr>
        <p:spPr>
          <a:xfrm>
            <a:off x="7189299" y="4819512"/>
            <a:ext cx="3183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After applying ACL</a:t>
            </a:r>
          </a:p>
        </p:txBody>
      </p:sp>
    </p:spTree>
    <p:extLst>
      <p:ext uri="{BB962C8B-B14F-4D97-AF65-F5344CB8AC3E}">
        <p14:creationId xmlns:p14="http://schemas.microsoft.com/office/powerpoint/2010/main" val="1188405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2E42-3A30-86BC-DB55-827CF2DC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53" y="1784818"/>
            <a:ext cx="10213200" cy="1740365"/>
          </a:xfrm>
        </p:spPr>
        <p:txBody>
          <a:bodyPr>
            <a:normAutofit/>
          </a:bodyPr>
          <a:lstStyle/>
          <a:p>
            <a:r>
              <a:rPr lang="en-US" sz="6000" dirty="0"/>
              <a:t>                  </a:t>
            </a:r>
            <a:r>
              <a:rPr lang="en-US" sz="8800" dirty="0"/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3777839722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30321C"/>
      </a:dk2>
      <a:lt2>
        <a:srgbClr val="F0F3F2"/>
      </a:lt2>
      <a:accent1>
        <a:srgbClr val="C34D81"/>
      </a:accent1>
      <a:accent2>
        <a:srgbClr val="B13BA1"/>
      </a:accent2>
      <a:accent3>
        <a:srgbClr val="A34DC3"/>
      </a:accent3>
      <a:accent4>
        <a:srgbClr val="6B4AB7"/>
      </a:accent4>
      <a:accent5>
        <a:srgbClr val="4D5AC3"/>
      </a:accent5>
      <a:accent6>
        <a:srgbClr val="3B79B1"/>
      </a:accent6>
      <a:hlink>
        <a:srgbClr val="473F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FrostyVTI</vt:lpstr>
      <vt:lpstr>Remote Office Integration with Data Center Using Routing and Access Control</vt:lpstr>
      <vt:lpstr>Problem  Statement </vt:lpstr>
      <vt:lpstr>                                    Structure</vt:lpstr>
      <vt:lpstr>PowerPoint Presentation</vt:lpstr>
      <vt:lpstr>PowerPoint Presentation</vt:lpstr>
      <vt:lpstr>PowerPoint Presentation</vt:lpstr>
      <vt:lpstr>Dynamic routing(OSPF)</vt:lpstr>
      <vt:lpstr>PowerPoint Presentation</vt:lpstr>
      <vt:lpstr>HTTPS is allowed </vt:lpstr>
      <vt:lpstr>ACL (For blocking FTP traffic and allowing HTTPS)</vt:lpstr>
      <vt:lpstr>Before and After applying ACL</vt:lpstr>
      <vt:lpstr>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411</cp:revision>
  <dcterms:created xsi:type="dcterms:W3CDTF">2024-12-11T10:36:51Z</dcterms:created>
  <dcterms:modified xsi:type="dcterms:W3CDTF">2024-12-11T17:27:29Z</dcterms:modified>
</cp:coreProperties>
</file>